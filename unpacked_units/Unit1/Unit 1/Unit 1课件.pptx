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3"/>
  </p:notesMasterIdLst>
  <p:sldIdLst>
    <p:sldId id="288" r:id="rId3"/>
    <p:sldId id="258" r:id="rId4"/>
    <p:sldId id="260" r:id="rId5"/>
    <p:sldId id="267" r:id="rId6"/>
    <p:sldId id="297" r:id="rId7"/>
    <p:sldId id="304" r:id="rId8"/>
    <p:sldId id="305" r:id="rId9"/>
    <p:sldId id="307" r:id="rId10"/>
    <p:sldId id="308" r:id="rId11"/>
    <p:sldId id="285" r:id="rId12"/>
    <p:sldId id="298" r:id="rId13"/>
    <p:sldId id="306" r:id="rId14"/>
    <p:sldId id="303" r:id="rId15"/>
    <p:sldId id="309" r:id="rId16"/>
    <p:sldId id="286" r:id="rId17"/>
    <p:sldId id="289" r:id="rId18"/>
    <p:sldId id="299" r:id="rId19"/>
    <p:sldId id="300" r:id="rId20"/>
    <p:sldId id="301" r:id="rId21"/>
    <p:sldId id="310" r:id="rId22"/>
  </p:sldIdLst>
  <p:sldSz cx="9144000" cy="6858000" type="screen4x3"/>
  <p:notesSz cx="6858000" cy="9144000"/>
  <p:defaultTextStyle>
    <a:defPPr>
      <a:defRPr lang="en-US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7E0C"/>
    <a:srgbClr val="7028C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85"/>
    <p:restoredTop sz="84790"/>
  </p:normalViewPr>
  <p:slideViewPr>
    <p:cSldViewPr showGuides="1">
      <p:cViewPr varScale="1">
        <p:scale>
          <a:sx n="95" d="100"/>
          <a:sy n="95" d="100"/>
        </p:scale>
        <p:origin x="211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412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Click to edit Master text styles</a:t>
            </a: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Second level</a:t>
            </a: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Third level</a:t>
            </a: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Fourth level</a:t>
            </a: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‹#›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2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3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1945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4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2048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2150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15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15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2355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35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>
                <a:ea typeface="宋体" panose="02010600030101010101" pitchFamily="2" charset="-122"/>
              </a:rPr>
              <a:t>The teacher needs to be aware the difference between an agenda and a program. Refer to Page 3 of the Teacher’s Guide for details.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18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2457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>
                <a:ea typeface="宋体" panose="02010600030101010101" pitchFamily="2" charset="-122"/>
              </a:rPr>
              <a:t>The teacher can have students look at the textbook and explain the format of conference programs. 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0" algn="r" eaLnBrk="1" hangingPunct="1"/>
            <a:fld id="{9A0DB2DC-4C9A-4742-B13C-FB6460FD3503}" type="slidenum">
              <a:rPr lang="zh-CN" altLang="en-US" sz="1200" dirty="0">
                <a:ea typeface="宋体" panose="02010600030101010101" pitchFamily="2" charset="-122"/>
              </a:rPr>
              <a:t>19</a:t>
            </a:fld>
            <a:endParaRPr lang="zh-CN" altLang="en-US" sz="1200" dirty="0">
              <a:ea typeface="宋体" panose="02010600030101010101" pitchFamily="2" charset="-122"/>
            </a:endParaRPr>
          </a:p>
        </p:txBody>
      </p:sp>
      <p:sp>
        <p:nvSpPr>
          <p:cNvPr id="2560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lstStyle/>
          <a:p>
            <a:pPr lvl="0" eaLnBrk="1" hangingPunct="1"/>
            <a:r>
              <a:rPr lang="en-US" altLang="zh-CN" dirty="0">
                <a:ea typeface="宋体" panose="02010600030101010101" pitchFamily="2" charset="-122"/>
              </a:rPr>
              <a:t>Read Sample 1 individually or in groups to find the answers to these questions. Or use Check Your Understanding to guide students’ reading. </a:t>
            </a:r>
          </a:p>
          <a:p>
            <a:pPr lvl="0" eaLnBrk="1" hangingPunct="1"/>
            <a:endParaRPr lang="en-US" altLang="zh-CN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3" y="4927600"/>
            <a:ext cx="2370137" cy="10969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Rectangle 66"/>
          <p:cNvSpPr>
            <a:spLocks noChangeArrowheads="1"/>
          </p:cNvSpPr>
          <p:nvPr/>
        </p:nvSpPr>
        <p:spPr bwMode="gray">
          <a:xfrm>
            <a:off x="304800" y="304800"/>
            <a:ext cx="8534400" cy="4343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" name="Rectangle 67"/>
          <p:cNvSpPr>
            <a:spLocks noChangeArrowheads="1"/>
          </p:cNvSpPr>
          <p:nvPr/>
        </p:nvSpPr>
        <p:spPr bwMode="gray">
          <a:xfrm>
            <a:off x="7391400" y="914400"/>
            <a:ext cx="1600200" cy="1447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" name="Rectangle 68"/>
          <p:cNvSpPr>
            <a:spLocks noChangeArrowheads="1"/>
          </p:cNvSpPr>
          <p:nvPr/>
        </p:nvSpPr>
        <p:spPr bwMode="gray">
          <a:xfrm>
            <a:off x="8305800" y="0"/>
            <a:ext cx="76200" cy="1752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" name="Rectangle 52"/>
          <p:cNvSpPr>
            <a:spLocks noChangeArrowheads="1"/>
          </p:cNvSpPr>
          <p:nvPr/>
        </p:nvSpPr>
        <p:spPr bwMode="gray">
          <a:xfrm>
            <a:off x="0" y="0"/>
            <a:ext cx="9144000" cy="5157788"/>
          </a:xfrm>
          <a:prstGeom prst="rect">
            <a:avLst/>
          </a:prstGeom>
          <a:solidFill>
            <a:schemeClr val="accent1"/>
          </a:soli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" name="Rectangle 64"/>
          <p:cNvSpPr>
            <a:spLocks noChangeArrowheads="1"/>
          </p:cNvSpPr>
          <p:nvPr/>
        </p:nvSpPr>
        <p:spPr bwMode="gray">
          <a:xfrm>
            <a:off x="1262063" y="0"/>
            <a:ext cx="2362200" cy="4953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549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gray">
          <a:xfrm>
            <a:off x="304800" y="2400300"/>
            <a:ext cx="8458200" cy="11049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gray">
          <a:xfrm>
            <a:off x="4267200" y="5257800"/>
            <a:ext cx="1157288" cy="733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LOGO</a:t>
            </a:r>
          </a:p>
        </p:txBody>
      </p:sp>
      <p:pic>
        <p:nvPicPr>
          <p:cNvPr id="2054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0913"/>
            <a:ext cx="1258888" cy="143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Rectangle 63"/>
          <p:cNvSpPr>
            <a:spLocks noChangeArrowheads="1"/>
          </p:cNvSpPr>
          <p:nvPr/>
        </p:nvSpPr>
        <p:spPr bwMode="gray">
          <a:xfrm>
            <a:off x="1276350" y="4941888"/>
            <a:ext cx="7867650" cy="217488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90800"/>
            <a:ext cx="8229600" cy="685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33800"/>
            <a:ext cx="5867400" cy="457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5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‹#›</a:t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6" grpId="0" animBg="1"/>
      <p:bldP spid="17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6191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6191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6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113" y="4927600"/>
            <a:ext cx="2370137" cy="10969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2" name="Rectangle 66"/>
          <p:cNvSpPr>
            <a:spLocks noChangeArrowheads="1"/>
          </p:cNvSpPr>
          <p:nvPr/>
        </p:nvSpPr>
        <p:spPr bwMode="gray">
          <a:xfrm>
            <a:off x="304800" y="304800"/>
            <a:ext cx="8534400" cy="43434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3" name="Rectangle 67"/>
          <p:cNvSpPr>
            <a:spLocks noChangeArrowheads="1"/>
          </p:cNvSpPr>
          <p:nvPr/>
        </p:nvSpPr>
        <p:spPr bwMode="gray">
          <a:xfrm>
            <a:off x="7391400" y="914400"/>
            <a:ext cx="1600200" cy="1447800"/>
          </a:xfrm>
          <a:prstGeom prst="rect">
            <a:avLst/>
          </a:prstGeom>
          <a:noFill/>
          <a:ln w="9525">
            <a:solidFill>
              <a:schemeClr val="accent2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24" name="Rectangle 68"/>
          <p:cNvSpPr>
            <a:spLocks noChangeArrowheads="1"/>
          </p:cNvSpPr>
          <p:nvPr/>
        </p:nvSpPr>
        <p:spPr bwMode="gray">
          <a:xfrm>
            <a:off x="8305800" y="0"/>
            <a:ext cx="76200" cy="1752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5" name="Rectangle 52"/>
          <p:cNvSpPr>
            <a:spLocks noChangeArrowheads="1"/>
          </p:cNvSpPr>
          <p:nvPr/>
        </p:nvSpPr>
        <p:spPr bwMode="gray">
          <a:xfrm>
            <a:off x="0" y="0"/>
            <a:ext cx="9144000" cy="5157788"/>
          </a:xfrm>
          <a:prstGeom prst="rect">
            <a:avLst/>
          </a:prstGeom>
          <a:solidFill>
            <a:schemeClr val="accent1"/>
          </a:solidFill>
          <a:ln w="0" algn="ctr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6" name="Rectangle 64"/>
          <p:cNvSpPr>
            <a:spLocks noChangeArrowheads="1"/>
          </p:cNvSpPr>
          <p:nvPr/>
        </p:nvSpPr>
        <p:spPr bwMode="gray">
          <a:xfrm>
            <a:off x="1262063" y="0"/>
            <a:ext cx="2362200" cy="4953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549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7" name="Rectangle 65"/>
          <p:cNvSpPr>
            <a:spLocks noChangeArrowheads="1"/>
          </p:cNvSpPr>
          <p:nvPr/>
        </p:nvSpPr>
        <p:spPr bwMode="gray">
          <a:xfrm>
            <a:off x="304800" y="2400300"/>
            <a:ext cx="8458200" cy="11049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accent1"/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8" name="Text Box 34"/>
          <p:cNvSpPr txBox="1">
            <a:spLocks noChangeArrowheads="1"/>
          </p:cNvSpPr>
          <p:nvPr/>
        </p:nvSpPr>
        <p:spPr bwMode="gray">
          <a:xfrm>
            <a:off x="4267200" y="5257800"/>
            <a:ext cx="1157288" cy="733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Company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LOGO</a:t>
            </a:r>
          </a:p>
        </p:txBody>
      </p:sp>
      <p:pic>
        <p:nvPicPr>
          <p:cNvPr id="2054" name="Picture 6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90913"/>
            <a:ext cx="1258888" cy="1438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" name="Rectangle 63"/>
          <p:cNvSpPr>
            <a:spLocks noChangeArrowheads="1"/>
          </p:cNvSpPr>
          <p:nvPr/>
        </p:nvSpPr>
        <p:spPr bwMode="gray">
          <a:xfrm>
            <a:off x="1276350" y="4941888"/>
            <a:ext cx="7867650" cy="217488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2590800"/>
            <a:ext cx="8229600" cy="6858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733800"/>
            <a:ext cx="5867400" cy="4572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5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7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algn="r"/>
            <a:fld id="{9A0DB2DC-4C9A-4742-B13C-FB6460FD3503}" type="slidenum">
              <a:rPr lang="zh-CN" altLang="en-US" dirty="0">
                <a:ea typeface="宋体" panose="02010600030101010101" pitchFamily="2" charset="-122"/>
              </a:rPr>
              <a:t>‹#›</a:t>
            </a:fld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ldLvl="0" animBg="1"/>
      <p:bldP spid="16" grpId="0" bldLvl="0" animBg="1"/>
      <p:bldP spid="17" grpId="0" bldLvl="0" animBg="1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50260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6375"/>
            <a:ext cx="2057400" cy="61912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6375"/>
            <a:ext cx="6019800" cy="61912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Rectangle 43"/>
          <p:cNvSpPr>
            <a:spLocks noChangeArrowheads="1"/>
          </p:cNvSpPr>
          <p:nvPr/>
        </p:nvSpPr>
        <p:spPr bwMode="gray">
          <a:xfrm>
            <a:off x="0" y="9525"/>
            <a:ext cx="9144000" cy="10287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8" name="Rectangle 44"/>
          <p:cNvSpPr>
            <a:spLocks noChangeArrowheads="1"/>
          </p:cNvSpPr>
          <p:nvPr/>
        </p:nvSpPr>
        <p:spPr bwMode="gray">
          <a:xfrm>
            <a:off x="1447800" y="0"/>
            <a:ext cx="7696200" cy="8794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9" name="Rectangle 45"/>
          <p:cNvSpPr>
            <a:spLocks noChangeArrowheads="1"/>
          </p:cNvSpPr>
          <p:nvPr/>
        </p:nvSpPr>
        <p:spPr bwMode="gray">
          <a:xfrm>
            <a:off x="0" y="158750"/>
            <a:ext cx="9144000" cy="60325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1" name="Rectangle 47"/>
          <p:cNvSpPr>
            <a:spLocks noChangeArrowheads="1"/>
          </p:cNvSpPr>
          <p:nvPr/>
        </p:nvSpPr>
        <p:spPr bwMode="gray">
          <a:xfrm>
            <a:off x="0" y="1143000"/>
            <a:ext cx="228600" cy="57150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gray">
          <a:xfrm>
            <a:off x="8686800" y="0"/>
            <a:ext cx="76200" cy="609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026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21450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21450"/>
            <a:ext cx="2895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21450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3" name="Rectangle 49"/>
          <p:cNvSpPr>
            <a:spLocks noChangeArrowheads="1"/>
          </p:cNvSpPr>
          <p:nvPr/>
        </p:nvSpPr>
        <p:spPr bwMode="gray">
          <a:xfrm>
            <a:off x="0" y="0"/>
            <a:ext cx="1447800" cy="1066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36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43013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0" name="Rectangle 46"/>
          <p:cNvSpPr>
            <a:spLocks noChangeArrowheads="1"/>
          </p:cNvSpPr>
          <p:nvPr/>
        </p:nvSpPr>
        <p:spPr bwMode="gray">
          <a:xfrm>
            <a:off x="0" y="1035050"/>
            <a:ext cx="1447800" cy="2286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8" name="Rectangle 50"/>
          <p:cNvSpPr>
            <a:spLocks noGrp="1"/>
          </p:cNvSpPr>
          <p:nvPr>
            <p:ph type="title"/>
          </p:nvPr>
        </p:nvSpPr>
        <p:spPr>
          <a:xfrm>
            <a:off x="1447800" y="206375"/>
            <a:ext cx="6858000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" grpId="0" animBg="1"/>
      <p:bldP spid="1072" grpId="0" animBg="1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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 2" panose="05020102010507070707" pitchFamily="18" charset="2"/>
        <a:buChar char="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tint val="39216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Rectangle 43"/>
          <p:cNvSpPr>
            <a:spLocks noChangeArrowheads="1"/>
          </p:cNvSpPr>
          <p:nvPr/>
        </p:nvSpPr>
        <p:spPr bwMode="gray">
          <a:xfrm>
            <a:off x="0" y="9525"/>
            <a:ext cx="9144000" cy="10287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8" name="Rectangle 44"/>
          <p:cNvSpPr>
            <a:spLocks noChangeArrowheads="1"/>
          </p:cNvSpPr>
          <p:nvPr/>
        </p:nvSpPr>
        <p:spPr bwMode="gray">
          <a:xfrm>
            <a:off x="1447800" y="0"/>
            <a:ext cx="7696200" cy="879475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69" name="Rectangle 45"/>
          <p:cNvSpPr>
            <a:spLocks noChangeArrowheads="1"/>
          </p:cNvSpPr>
          <p:nvPr/>
        </p:nvSpPr>
        <p:spPr bwMode="gray">
          <a:xfrm>
            <a:off x="0" y="158750"/>
            <a:ext cx="9144000" cy="603250"/>
          </a:xfrm>
          <a:prstGeom prst="rect">
            <a:avLst/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100000">
                <a:schemeClr val="accent1"/>
              </a:gs>
            </a:gsLst>
            <a:lin ang="0" scaled="1"/>
          </a:gradFill>
          <a:ln w="9525">
            <a:solidFill>
              <a:schemeClr val="accent1"/>
            </a:solidFill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1" name="Rectangle 47"/>
          <p:cNvSpPr>
            <a:spLocks noChangeArrowheads="1"/>
          </p:cNvSpPr>
          <p:nvPr/>
        </p:nvSpPr>
        <p:spPr bwMode="gray">
          <a:xfrm>
            <a:off x="0" y="1143000"/>
            <a:ext cx="228600" cy="5715000"/>
          </a:xfrm>
          <a:prstGeom prst="rect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tint val="0"/>
                  <a:invGamma/>
                </a:schemeClr>
              </a:gs>
            </a:gsLst>
            <a:lin ang="540000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2" name="Rectangle 48"/>
          <p:cNvSpPr>
            <a:spLocks noChangeArrowheads="1"/>
          </p:cNvSpPr>
          <p:nvPr/>
        </p:nvSpPr>
        <p:spPr bwMode="gray">
          <a:xfrm>
            <a:off x="8686800" y="0"/>
            <a:ext cx="76200" cy="609600"/>
          </a:xfrm>
          <a:prstGeom prst="rect">
            <a:avLst/>
          </a:prstGeom>
          <a:solidFill>
            <a:schemeClr val="hlink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1" name="Rectangle 3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8229600" cy="50260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457200" y="6521450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21450"/>
            <a:ext cx="2895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553200" y="6521450"/>
            <a:ext cx="2133600" cy="2444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chemeClr val="accent1"/>
                </a:solidFill>
                <a:ea typeface="宋体" panose="02010600030101010101" pitchFamily="2" charset="-122"/>
              </a:defRPr>
            </a:lvl1pPr>
          </a:lstStyle>
          <a:p>
            <a:pPr lvl="0" eaLnBrk="1" hangingPunct="1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  <a:t>‹#›</a:t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73" name="Rectangle 49"/>
          <p:cNvSpPr>
            <a:spLocks noChangeArrowheads="1"/>
          </p:cNvSpPr>
          <p:nvPr/>
        </p:nvSpPr>
        <p:spPr bwMode="gray">
          <a:xfrm>
            <a:off x="0" y="0"/>
            <a:ext cx="1447800" cy="1066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pic>
        <p:nvPicPr>
          <p:cNvPr id="1036" name="Picture 4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43013" cy="10382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70" name="Rectangle 46"/>
          <p:cNvSpPr>
            <a:spLocks noChangeArrowheads="1"/>
          </p:cNvSpPr>
          <p:nvPr/>
        </p:nvSpPr>
        <p:spPr bwMode="gray">
          <a:xfrm>
            <a:off x="0" y="1035050"/>
            <a:ext cx="1447800" cy="2286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lvl="0" eaLnBrk="1" hangingPunct="1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38" name="Rectangle 50"/>
          <p:cNvSpPr>
            <a:spLocks noGrp="1"/>
          </p:cNvSpPr>
          <p:nvPr>
            <p:ph type="title"/>
          </p:nvPr>
        </p:nvSpPr>
        <p:spPr>
          <a:xfrm>
            <a:off x="1447800" y="206375"/>
            <a:ext cx="6858000" cy="5334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9" grpId="0" bldLvl="0" animBg="1"/>
      <p:bldP spid="1072" grpId="0" bldLvl="0" animBg="1"/>
    </p:bldLst>
  </p:timing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 2" panose="05020102010507070707" pitchFamily="18" charset="2"/>
        <a:buChar char="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 2" panose="05020102010507070707" pitchFamily="18" charset="2"/>
        <a:buChar char="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Samples/Task%20I/Sample%203.pdf" TargetMode="External"/><Relationship Id="rId2" Type="http://schemas.openxmlformats.org/officeDocument/2006/relationships/hyperlink" Target="Samples/Task%20I/Sample%202.pdf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Samples/Task%20II/Sample%201.pdf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Samples/Task%20II/Sample%202.pdf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" descr="课本图片"/>
          <p:cNvPicPr>
            <a:picLocks noChangeAspect="1"/>
          </p:cNvPicPr>
          <p:nvPr/>
        </p:nvPicPr>
        <p:blipFill>
          <a:blip r:embed="rId2"/>
          <a:srcRect l="12035" r="12035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4"/>
          <p:cNvSpPr>
            <a:spLocks noGrp="1"/>
          </p:cNvSpPr>
          <p:nvPr>
            <p:ph type="ctrTitle"/>
          </p:nvPr>
        </p:nvSpPr>
        <p:spPr>
          <a:xfrm>
            <a:off x="395288" y="1125538"/>
            <a:ext cx="8351837" cy="2808287"/>
          </a:xfrm>
        </p:spPr>
        <p:txBody>
          <a:bodyPr vert="horz" wrap="square" lIns="91440" tIns="45720" rIns="91440" bIns="45720" anchor="ctr" anchorCtr="0"/>
          <a:lstStyle/>
          <a:p>
            <a:pPr eaLnBrk="1" hangingPunct="1">
              <a:buClrTx/>
              <a:buSzTx/>
              <a:buFontTx/>
            </a:pPr>
            <a:r>
              <a:rPr lang="en-US" altLang="zh-CN" sz="4400" dirty="0">
                <a:latin typeface="+mj-lt"/>
                <a:ea typeface="宋体" panose="02010600030101010101" pitchFamily="2" charset="-122"/>
                <a:cs typeface="+mj-cs"/>
              </a:rPr>
              <a:t>Unit 1 </a:t>
            </a:r>
            <a:br>
              <a:rPr lang="en-US" altLang="zh-CN" sz="4400" dirty="0">
                <a:latin typeface="+mj-lt"/>
                <a:ea typeface="宋体" panose="02010600030101010101" pitchFamily="2" charset="-122"/>
                <a:cs typeface="+mj-cs"/>
              </a:rPr>
            </a:br>
            <a:r>
              <a:rPr lang="en-US" altLang="zh-CN" sz="4400" dirty="0">
                <a:latin typeface="+mj-lt"/>
                <a:ea typeface="宋体" panose="02010600030101010101" pitchFamily="2" charset="-122"/>
                <a:cs typeface="+mj-cs"/>
              </a:rPr>
              <a:t>Preparations for International Conference </a:t>
            </a:r>
          </a:p>
        </p:txBody>
      </p:sp>
      <p:sp>
        <p:nvSpPr>
          <p:cNvPr id="4099" name="Rectangle 25"/>
          <p:cNvSpPr/>
          <p:nvPr/>
        </p:nvSpPr>
        <p:spPr>
          <a:xfrm>
            <a:off x="4211638" y="5300663"/>
            <a:ext cx="1439862" cy="792162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100" name="Rectangle 26"/>
          <p:cNvSpPr/>
          <p:nvPr/>
        </p:nvSpPr>
        <p:spPr>
          <a:xfrm>
            <a:off x="3203575" y="333375"/>
            <a:ext cx="5689600" cy="325438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algn="r"/>
            <a:r>
              <a:rPr lang="en-US" altLang="zh-CN" sz="1600" b="1" i="1" dirty="0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English for International Academic Exchange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/>
          <p:cNvSpPr>
            <a:spLocks noGrp="1"/>
          </p:cNvSpPr>
          <p:nvPr>
            <p:ph type="title"/>
          </p:nvPr>
        </p:nvSpPr>
        <p:spPr>
          <a:xfrm>
            <a:off x="1447800" y="206375"/>
            <a:ext cx="6580188" cy="533400"/>
          </a:xfrm>
        </p:spPr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Unit 1 Int’l Conference Prep</a:t>
            </a:r>
          </a:p>
        </p:txBody>
      </p:sp>
      <p:sp>
        <p:nvSpPr>
          <p:cNvPr id="13319" name="AutoShape 7">
            <a:hlinkClick r:id="rId3" action="ppaction://hlinksldjump"/>
          </p:cNvPr>
          <p:cNvSpPr>
            <a:spLocks noChangeArrowheads="1"/>
          </p:cNvSpPr>
          <p:nvPr/>
        </p:nvSpPr>
        <p:spPr bwMode="gray">
          <a:xfrm>
            <a:off x="1835150" y="2133600"/>
            <a:ext cx="5545138" cy="533400"/>
          </a:xfrm>
          <a:prstGeom prst="roundRect">
            <a:avLst>
              <a:gd name="adj" fmla="val 12796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2. Conference Notice</a:t>
            </a:r>
          </a:p>
        </p:txBody>
      </p:sp>
      <p:sp>
        <p:nvSpPr>
          <p:cNvPr id="13320" name="AutoShape 8">
            <a:hlinkClick r:id="rId4" action="ppaction://hlinksldjump"/>
          </p:cNvPr>
          <p:cNvSpPr>
            <a:spLocks noChangeArrowheads="1"/>
          </p:cNvSpPr>
          <p:nvPr/>
        </p:nvSpPr>
        <p:spPr bwMode="gray">
          <a:xfrm>
            <a:off x="1835150" y="2924175"/>
            <a:ext cx="5556250" cy="533400"/>
          </a:xfrm>
          <a:prstGeom prst="roundRect">
            <a:avLst>
              <a:gd name="adj" fmla="val 19046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3. Conference Agenda and Programs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21" name="AutoShape 9"/>
          <p:cNvSpPr>
            <a:spLocks noChangeArrowheads="1"/>
          </p:cNvSpPr>
          <p:nvPr/>
        </p:nvSpPr>
        <p:spPr bwMode="gray">
          <a:xfrm>
            <a:off x="1835150" y="1341438"/>
            <a:ext cx="5545138" cy="533400"/>
          </a:xfrm>
          <a:prstGeom prst="roundRect">
            <a:avLst>
              <a:gd name="adj" fmla="val 19046"/>
            </a:avLst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1. Call for Conference Papers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19" grpId="0" animBg="1"/>
      <p:bldP spid="13320" grpId="0" animBg="1"/>
      <p:bldP spid="133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hangingPunct="1"/>
            <a:r>
              <a:rPr lang="en-US" altLang="zh-CN" i="1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Format of call for conference papers 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theme/background 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goals/objectives 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topics to be discussed 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time and venue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papers and submissions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organizing committee</a:t>
            </a:r>
          </a:p>
          <a:p>
            <a:pPr lvl="1" eaLnBrk="1" hangingPunct="1"/>
            <a:r>
              <a:rPr lang="en-US" altLang="zh-CN" dirty="0">
                <a:ea typeface="宋体" panose="02010600030101010101" pitchFamily="2" charset="-122"/>
              </a:rPr>
              <a:t> contact information </a:t>
            </a:r>
            <a:endParaRPr lang="en-US" altLang="zh-CN" i="1" dirty="0">
              <a:ea typeface="宋体" panose="02010600030101010101" pitchFamily="2" charset="-122"/>
            </a:endParaRPr>
          </a:p>
        </p:txBody>
      </p:sp>
      <p:sp>
        <p:nvSpPr>
          <p:cNvPr id="34820" name="AutoShape 4"/>
          <p:cNvSpPr>
            <a:spLocks noChangeArrowheads="1"/>
          </p:cNvSpPr>
          <p:nvPr/>
        </p:nvSpPr>
        <p:spPr bwMode="gray">
          <a:xfrm>
            <a:off x="1619250" y="188913"/>
            <a:ext cx="6553200" cy="576263"/>
          </a:xfrm>
          <a:prstGeom prst="roundRect">
            <a:avLst>
              <a:gd name="adj" fmla="val 19046"/>
            </a:avLst>
          </a:prstGeom>
          <a:gradFill rotWithShape="1">
            <a:gsLst>
              <a:gs pos="0">
                <a:schemeClr val="folHlink">
                  <a:gamma/>
                  <a:shade val="46275"/>
                  <a:invGamma/>
                </a:schemeClr>
              </a:gs>
              <a:gs pos="5000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Task 1. Call for Conference Papers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Vocabulary 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1042988" y="1371600"/>
            <a:ext cx="7643812" cy="50260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affiliation: link or connection with an organization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cognitive science: the study of action or process of acquiring knowledge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conference proceedings: published record of a conference </a:t>
            </a:r>
            <a:r>
              <a:rPr lang="zh-CN" altLang="en-US" sz="1800" b="1" dirty="0">
                <a:ea typeface="宋体" panose="02010600030101010101" pitchFamily="2" charset="-122"/>
              </a:rPr>
              <a:t>会议论文集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keynote speaker: </a:t>
            </a:r>
            <a:r>
              <a:rPr lang="zh-CN" altLang="en-US" sz="1800" b="1" dirty="0">
                <a:ea typeface="宋体" panose="02010600030101010101" pitchFamily="2" charset="-122"/>
              </a:rPr>
              <a:t>主旨发言人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networks convergence and integration:</a:t>
            </a:r>
            <a:r>
              <a:rPr lang="zh-CN" altLang="en-US" sz="1800" b="1" dirty="0">
                <a:ea typeface="宋体" panose="02010600030101010101" pitchFamily="2" charset="-122"/>
              </a:rPr>
              <a:t> 网络融合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panel: a group of people chosen for a particular purpose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plenary: attended by all who have the right to attend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portal: </a:t>
            </a:r>
            <a:r>
              <a:rPr lang="zh-CN" altLang="en-US" sz="1800" b="1" dirty="0">
                <a:ea typeface="宋体" panose="02010600030101010101" pitchFamily="2" charset="-122"/>
              </a:rPr>
              <a:t>门户站点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position: view or opinion held by somebody </a:t>
            </a:r>
            <a:endParaRPr lang="zh-CN" altLang="en-US" sz="1800" b="1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pros and cons: arguments for and against sth.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protocol: </a:t>
            </a:r>
            <a:r>
              <a:rPr lang="zh-CN" altLang="en-US" sz="1800" b="1" dirty="0">
                <a:ea typeface="宋体" panose="02010600030101010101" pitchFamily="2" charset="-122"/>
              </a:rPr>
              <a:t>(网络)协议</a:t>
            </a:r>
            <a:endParaRPr lang="zh-CN" altLang="en-US" sz="18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radio interface: </a:t>
            </a:r>
            <a:r>
              <a:rPr lang="zh-CN" altLang="en-US" sz="1800" b="1" dirty="0">
                <a:ea typeface="宋体" panose="02010600030101010101" pitchFamily="2" charset="-122"/>
              </a:rPr>
              <a:t>无线电端口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spectrum allocation: </a:t>
            </a:r>
            <a:r>
              <a:rPr lang="zh-CN" altLang="en-US" sz="1800" b="1" dirty="0">
                <a:ea typeface="宋体" panose="02010600030101010101" pitchFamily="2" charset="-122"/>
              </a:rPr>
              <a:t>频谱分配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ubiquitous: seeming to be present everywhere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1800" dirty="0">
                <a:ea typeface="宋体" panose="02010600030101010101" pitchFamily="2" charset="-122"/>
              </a:rPr>
              <a:t>wireless and mobile network deployment: </a:t>
            </a:r>
            <a:r>
              <a:rPr lang="zh-CN" altLang="en-US" sz="1800" b="1" dirty="0">
                <a:ea typeface="宋体" panose="02010600030101010101" pitchFamily="2" charset="-122"/>
              </a:rPr>
              <a:t>无线移动网络部署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Sample 1</a:t>
            </a:r>
            <a:r>
              <a:rPr lang="zh-CN" altLang="en-US" sz="2400" dirty="0"/>
              <a:t>（</a:t>
            </a:r>
            <a:r>
              <a:rPr lang="en-US" altLang="zh-CN" sz="2400" dirty="0"/>
              <a:t>p2-4</a:t>
            </a:r>
            <a:r>
              <a:rPr lang="zh-CN" altLang="en-US" sz="2400" dirty="0"/>
              <a:t>）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/>
              <a:t>Try to identify in the sample the theme, conference goals, topics to be discussed, date, papers and submissions, organizing institution and committee, and contact info.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Sample Demonstration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6390" y="1371600"/>
            <a:ext cx="8613775" cy="5026025"/>
          </a:xfrm>
        </p:spPr>
        <p:txBody>
          <a:bodyPr/>
          <a:lstStyle/>
          <a:p>
            <a:pPr marL="0" indent="0" algn="ctr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b="1">
                <a:sym typeface="+mn-ea"/>
                <a:hlinkClick r:id="rId2" action="ppaction://hlinkfile"/>
              </a:rPr>
              <a:t>Sample 2</a:t>
            </a:r>
          </a:p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/>
              <a:t>ACM Sensys 2009 Berkeley,California-November4-6 2009</a:t>
            </a:r>
          </a:p>
          <a:p>
            <a:pPr marL="0" indent="0" algn="ctr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/>
              <a:t>Call for papers</a:t>
            </a:r>
          </a:p>
          <a:p>
            <a:pPr marL="0" algn="ctr" eaLnBrk="1" hangingPunct="1">
              <a:lnSpc>
                <a:spcPct val="150000"/>
              </a:lnSpc>
              <a:spcBef>
                <a:spcPts val="0"/>
              </a:spcBef>
              <a:buClrTx/>
              <a:buSzTx/>
              <a:buNone/>
            </a:pPr>
            <a:r>
              <a:rPr lang="en-US" altLang="zh-CN" sz="3200" b="1">
                <a:sym typeface="+mn-ea"/>
                <a:hlinkClick r:id="rId3" action="ppaction://hlinkfile"/>
              </a:rPr>
              <a:t>Sample 3 </a:t>
            </a:r>
            <a:endParaRPr lang="en-US" altLang="zh-CN" sz="3200" b="1"/>
          </a:p>
          <a:p>
            <a:pPr algn="ctr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2400" b="1">
                <a:sym typeface="+mn-ea"/>
              </a:rPr>
              <a:t>The Second International Conference on Wireless and Mobile Communications ICWMC 2006 </a:t>
            </a:r>
            <a:endParaRPr lang="en-US" altLang="zh-CN" sz="2400"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Learning Aids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/>
              <a:t>General info</a:t>
            </a:r>
          </a:p>
          <a:p>
            <a:r>
              <a:rPr lang="en-US" altLang="zh-CN"/>
              <a:t>Organizing Committee: a chairperson, a vice-chairperson, members, and a secretary general</a:t>
            </a:r>
          </a:p>
          <a:p>
            <a:r>
              <a:rPr lang="en-US" altLang="zh-CN"/>
              <a:t>Academic Committee: advisors, a chairperson, a vice-chairperson, members (locally or internationally known) and secretaries.</a:t>
            </a:r>
          </a:p>
          <a:p>
            <a:r>
              <a:rPr lang="en-US" altLang="zh-CN"/>
              <a:t>The call for paper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Learning Aids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latinLnBrk="0" hangingPunct="1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/>
              <a:t>Detailed info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/>
              <a:t>Discussion of details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/>
              <a:t>The secretaries: confirmation of relevant info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229600" cy="5256212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800" dirty="0">
                <a:ea typeface="宋体" panose="02010600030101010101" pitchFamily="2" charset="-122"/>
              </a:rPr>
              <a:t> A conference notice is intended to inform the concerned parties and prospective participants of details and requirements of the conference. Forms may vary, but the following information is usually included: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Theme                                       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Participants invited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Application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Registration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Reception/Hospitality 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Notification of acceptance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Accommodation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Fees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Organizer </a:t>
            </a:r>
          </a:p>
        </p:txBody>
      </p:sp>
      <p:sp>
        <p:nvSpPr>
          <p:cNvPr id="84996" name="AutoShape 4">
            <a:hlinkClick r:id="rId2" action="ppaction://hlinksldjump"/>
          </p:cNvPr>
          <p:cNvSpPr>
            <a:spLocks noChangeArrowheads="1"/>
          </p:cNvSpPr>
          <p:nvPr/>
        </p:nvSpPr>
        <p:spPr bwMode="gray">
          <a:xfrm>
            <a:off x="1763713" y="188913"/>
            <a:ext cx="5545138" cy="533400"/>
          </a:xfrm>
          <a:prstGeom prst="roundRect">
            <a:avLst>
              <a:gd name="adj" fmla="val 12796"/>
            </a:avLst>
          </a:prstGeom>
          <a:gradFill rotWithShape="1">
            <a:gsLst>
              <a:gs pos="0">
                <a:schemeClr val="accent2">
                  <a:gamma/>
                  <a:shade val="46275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Task 2. Conference Notice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4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Vocabulary 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971550" y="1371600"/>
            <a:ext cx="7715250" cy="50260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accommodation: lodging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ageing: process of growing old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demographic: concerning the study of statistics of people in a community 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economy-class: </a:t>
            </a:r>
            <a:r>
              <a:rPr lang="zh-CN" altLang="en-US" sz="2000" dirty="0">
                <a:ea typeface="宋体" panose="02010600030101010101" pitchFamily="2" charset="-122"/>
              </a:rPr>
              <a:t>经济舱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formulate: create in a precise form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intergenerational: between two generations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momentum: impetus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overarching: inclusive and affecting everything or everybody 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reimburse: pay back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round trip: </a:t>
            </a:r>
            <a:r>
              <a:rPr lang="zh-CN" altLang="en-US" sz="2000" dirty="0">
                <a:ea typeface="宋体" panose="02010600030101010101" pitchFamily="2" charset="-122"/>
              </a:rPr>
              <a:t>往返旅行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session: meeting; single continuous period spent in one activity.</a:t>
            </a: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000" i="1" dirty="0">
                <a:ea typeface="宋体" panose="02010600030101010101" pitchFamily="2" charset="-122"/>
              </a:rPr>
              <a:t>     e.g. brainstorm session </a:t>
            </a:r>
            <a:r>
              <a:rPr lang="zh-CN" altLang="en-US" sz="2000" i="1" dirty="0">
                <a:ea typeface="宋体" panose="02010600030101010101" pitchFamily="2" charset="-122"/>
              </a:rPr>
              <a:t>头脑风暴环节；</a:t>
            </a:r>
            <a:r>
              <a:rPr lang="en-US" altLang="zh-CN" sz="2000" i="1" dirty="0">
                <a:ea typeface="宋体" panose="02010600030101010101" pitchFamily="2" charset="-122"/>
              </a:rPr>
              <a:t>Q &amp; A session </a:t>
            </a:r>
            <a:r>
              <a:rPr lang="zh-CN" altLang="en-US" sz="2000" i="1" dirty="0">
                <a:ea typeface="宋体" panose="02010600030101010101" pitchFamily="2" charset="-122"/>
              </a:rPr>
              <a:t>问答环节</a:t>
            </a:r>
            <a:endParaRPr lang="zh-CN" altLang="en-US" sz="20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CN" sz="2000" dirty="0">
                <a:ea typeface="宋体" panose="02010600030101010101" pitchFamily="2" charset="-122"/>
              </a:rPr>
              <a:t>solidarity: unity and agreement resulting from shared interests, feelings, actions, etc.  </a:t>
            </a:r>
            <a:endParaRPr lang="zh-CN" altLang="en-US" sz="2000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宋体" panose="02010600030101010101" pitchFamily="2" charset="-122"/>
                <a:sym typeface="+mn-ea"/>
              </a:rPr>
              <a:t>Sample Demonstration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None/>
            </a:pPr>
            <a:r>
              <a:rPr lang="en-US" altLang="zh-CN" b="1" dirty="0">
                <a:ea typeface="宋体" panose="02010600030101010101" pitchFamily="2" charset="-122"/>
                <a:sym typeface="+mn-ea"/>
                <a:hlinkClick r:id="rId2" action="ppaction://hlinkfile"/>
              </a:rPr>
              <a:t>Sample 1</a:t>
            </a:r>
            <a:endParaRPr lang="en-US" altLang="zh-CN" b="1" dirty="0">
              <a:ea typeface="宋体" panose="02010600030101010101" pitchFamily="2" charset="-122"/>
            </a:endParaRPr>
          </a:p>
          <a:p>
            <a:pPr algn="ctr" eaLnBrk="1" hangingPunct="1">
              <a:buNone/>
            </a:pPr>
            <a:r>
              <a:rPr lang="en-US" altLang="zh-CN"/>
              <a:t>2005 AAPS National Biotechnology Conference</a:t>
            </a:r>
          </a:p>
          <a:p>
            <a:pPr algn="ctr" eaLnBrk="1" hangingPunct="1">
              <a:buNone/>
            </a:pPr>
            <a:r>
              <a:rPr lang="en-US" altLang="zh-CN"/>
              <a:t>June 5-8, 2005, San Francisco, CA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Sample Demonstration 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en-US" altLang="zh-CN" b="1" dirty="0">
                <a:ea typeface="宋体" panose="02010600030101010101" pitchFamily="2" charset="-122"/>
                <a:hlinkClick r:id="rId2" action="ppaction://hlinkfile"/>
              </a:rPr>
              <a:t>Sample 2</a:t>
            </a:r>
            <a:endParaRPr lang="en-US" altLang="zh-CN" b="1" dirty="0">
              <a:ea typeface="宋体" panose="02010600030101010101" pitchFamily="2" charset="-122"/>
            </a:endParaRPr>
          </a:p>
          <a:p>
            <a:pPr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6th Global Forum on Reinventing Government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Learning Aids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/>
              <a:t>Don’t translate the conference notice word for word</a:t>
            </a:r>
          </a:p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/>
              <a:t>Notice is different from invitation letter.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3"/>
          <p:cNvSpPr>
            <a:spLocks noGrp="1"/>
          </p:cNvSpPr>
          <p:nvPr>
            <p:ph idx="1"/>
          </p:nvPr>
        </p:nvSpPr>
        <p:spPr>
          <a:xfrm>
            <a:off x="467360" y="1196340"/>
            <a:ext cx="8229600" cy="525621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ea typeface="宋体" panose="02010600030101010101" pitchFamily="2" charset="-122"/>
              </a:rPr>
              <a:t> </a:t>
            </a:r>
            <a:r>
              <a:rPr lang="en-US" altLang="zh-CN" sz="2400" dirty="0">
                <a:ea typeface="宋体" panose="02010600030101010101" pitchFamily="2" charset="-122"/>
              </a:rPr>
              <a:t>The conference agenda/program is a list of the   order of events to be carried out, a schedule.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 Format of agenda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Call to order </a:t>
            </a:r>
            <a:r>
              <a:rPr lang="zh-CN" altLang="en-US" sz="2400" b="1" dirty="0">
                <a:ea typeface="宋体" panose="02010600030101010101" pitchFamily="2" charset="-122"/>
              </a:rPr>
              <a:t>宣布会议开始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Roll call </a:t>
            </a:r>
            <a:r>
              <a:rPr lang="zh-CN" altLang="en-US" sz="2400" b="1" dirty="0">
                <a:ea typeface="宋体" panose="02010600030101010101" pitchFamily="2" charset="-122"/>
              </a:rPr>
              <a:t>点名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Announcement of quorum </a:t>
            </a:r>
            <a:r>
              <a:rPr lang="zh-CN" altLang="en-US" sz="2400" b="1" dirty="0">
                <a:ea typeface="宋体" panose="02010600030101010101" pitchFamily="2" charset="-122"/>
              </a:rPr>
              <a:t>宣布大会的法定人数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Reading and adoption of the minutes of the previous meeting </a:t>
            </a:r>
            <a:r>
              <a:rPr lang="zh-CN" altLang="en-US" sz="2400" b="1" dirty="0">
                <a:ea typeface="宋体" panose="02010600030101010101" pitchFamily="2" charset="-122"/>
              </a:rPr>
              <a:t>宣读并审议会议议程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Approval of the minutes of the previous meeting </a:t>
            </a:r>
          </a:p>
          <a:p>
            <a:pPr marL="457200" lvl="1" indent="0" eaLnBrk="1" hangingPunct="1">
              <a:lnSpc>
                <a:spcPct val="80000"/>
              </a:lnSpc>
              <a:buNone/>
            </a:pPr>
            <a:r>
              <a:rPr lang="en-US" altLang="zh-CN" sz="2400" dirty="0">
                <a:ea typeface="宋体" panose="02010600030101010101" pitchFamily="2" charset="-122"/>
              </a:rPr>
              <a:t>   </a:t>
            </a:r>
            <a:r>
              <a:rPr lang="zh-CN" altLang="en-US" sz="2400" b="1" dirty="0">
                <a:ea typeface="宋体" panose="02010600030101010101" pitchFamily="2" charset="-122"/>
              </a:rPr>
              <a:t>通过前期会议纪要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Related matters </a:t>
            </a:r>
            <a:r>
              <a:rPr lang="zh-CN" altLang="en-US" sz="2400" b="1" dirty="0">
                <a:ea typeface="宋体" panose="02010600030101010101" pitchFamily="2" charset="-122"/>
              </a:rPr>
              <a:t>相关事宜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Unfinished business </a:t>
            </a:r>
            <a:r>
              <a:rPr lang="zh-CN" altLang="en-US" sz="2400" b="1" dirty="0">
                <a:ea typeface="宋体" panose="02010600030101010101" pitchFamily="2" charset="-122"/>
              </a:rPr>
              <a:t>未竟事业</a:t>
            </a:r>
            <a:endParaRPr lang="en-US" altLang="zh-CN" sz="2400" b="1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Appointments and removal  </a:t>
            </a:r>
            <a:r>
              <a:rPr lang="zh-CN" altLang="en-US" sz="2400" b="1" dirty="0">
                <a:ea typeface="宋体" panose="02010600030101010101" pitchFamily="2" charset="-122"/>
              </a:rPr>
              <a:t>人事任免</a:t>
            </a:r>
            <a:r>
              <a:rPr lang="en-US" altLang="zh-CN" sz="2400" b="1" dirty="0">
                <a:ea typeface="宋体" panose="02010600030101010101" pitchFamily="2" charset="-122"/>
              </a:rPr>
              <a:t>   </a:t>
            </a:r>
            <a:r>
              <a:rPr lang="en-US" altLang="zh-CN" sz="2400" dirty="0">
                <a:ea typeface="宋体" panose="02010600030101010101" pitchFamily="2" charset="-122"/>
              </a:rPr>
              <a:t>              </a:t>
            </a:r>
            <a:endParaRPr lang="en-IE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Nomination and elections   </a:t>
            </a:r>
            <a:r>
              <a:rPr lang="zh-CN" altLang="en-US" sz="2400" b="1" dirty="0">
                <a:ea typeface="宋体" panose="02010600030101010101" pitchFamily="2" charset="-122"/>
              </a:rPr>
              <a:t>提名与选举</a:t>
            </a:r>
            <a:r>
              <a:rPr lang="en-US" altLang="zh-CN" sz="2400" dirty="0">
                <a:ea typeface="宋体" panose="02010600030101010101" pitchFamily="2" charset="-122"/>
              </a:rPr>
              <a:t>                  </a:t>
            </a:r>
            <a:endParaRPr lang="en-IE" altLang="zh-CN" sz="24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Adjournment </a:t>
            </a:r>
            <a:r>
              <a:rPr lang="zh-CN" altLang="en-US" sz="2400" b="1" dirty="0">
                <a:ea typeface="宋体" panose="02010600030101010101" pitchFamily="2" charset="-122"/>
              </a:rPr>
              <a:t>休会</a:t>
            </a:r>
          </a:p>
        </p:txBody>
      </p:sp>
      <p:sp>
        <p:nvSpPr>
          <p:cNvPr id="86022" name="AutoShape 6">
            <a:hlinkClick r:id="rId3" action="ppaction://hlinksldjump"/>
          </p:cNvPr>
          <p:cNvSpPr>
            <a:spLocks noChangeArrowheads="1"/>
          </p:cNvSpPr>
          <p:nvPr/>
        </p:nvSpPr>
        <p:spPr bwMode="gray">
          <a:xfrm>
            <a:off x="1692275" y="260350"/>
            <a:ext cx="6192838" cy="504825"/>
          </a:xfrm>
          <a:prstGeom prst="roundRect">
            <a:avLst>
              <a:gd name="adj" fmla="val 19046"/>
            </a:avLst>
          </a:prstGeom>
          <a:gradFill rotWithShape="1">
            <a:gsLst>
              <a:gs pos="0">
                <a:schemeClr val="hlink">
                  <a:gamma/>
                  <a:shade val="46275"/>
                  <a:invGamma/>
                </a:schemeClr>
              </a:gs>
              <a:gs pos="5000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lin ang="5400000" scaled="1"/>
          </a:gradFill>
          <a:ln w="28575">
            <a:solidFill>
              <a:schemeClr val="bg1"/>
            </a:solidFill>
            <a:rou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Task 3. Conference Agenda and Programs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endParaRPr lang="zh-CN" altLang="en-US" dirty="0">
              <a:ea typeface="宋体" panose="02010600030101010101" pitchFamily="2" charset="-122"/>
            </a:endParaRPr>
          </a:p>
        </p:txBody>
      </p:sp>
      <p:sp>
        <p:nvSpPr>
          <p:cNvPr id="1331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dirty="0">
                <a:ea typeface="宋体" panose="02010600030101010101" pitchFamily="2" charset="-122"/>
              </a:rPr>
              <a:t> </a:t>
            </a:r>
            <a:r>
              <a:rPr lang="en-US" altLang="zh-CN" dirty="0">
                <a:ea typeface="宋体" panose="02010600030101010101" pitchFamily="2" charset="-122"/>
              </a:rPr>
              <a:t>Format of programs</a:t>
            </a: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Time </a:t>
            </a: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US" altLang="zh-CN" dirty="0">
                <a:ea typeface="宋体" panose="02010600030101010101" pitchFamily="2" charset="-122"/>
              </a:rPr>
              <a:t>Venue </a:t>
            </a:r>
            <a:endParaRPr lang="en-IE" altLang="zh-CN" dirty="0">
              <a:ea typeface="宋体" panose="02010600030101010101" pitchFamily="2" charset="-122"/>
            </a:endParaRPr>
          </a:p>
          <a:p>
            <a:pPr lvl="1" eaLnBrk="1" latinLnBrk="0" hangingPunct="1">
              <a:lnSpc>
                <a:spcPct val="150000"/>
              </a:lnSpc>
              <a:spcBef>
                <a:spcPts val="0"/>
              </a:spcBef>
            </a:pPr>
            <a:r>
              <a:rPr lang="en-IE" altLang="zh-CN" dirty="0">
                <a:ea typeface="宋体" panose="02010600030101010101" pitchFamily="2" charset="-122"/>
              </a:rPr>
              <a:t>Activities</a:t>
            </a:r>
            <a:r>
              <a:rPr lang="en-US" altLang="zh-CN" dirty="0">
                <a:ea typeface="宋体" panose="02010600030101010101" pitchFamily="2" charset="-122"/>
              </a:rPr>
              <a:t>: opening ceremony, orientation, presentation, plenary session, workshop, etc.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Vocabulary </a:t>
            </a:r>
          </a:p>
        </p:txBody>
      </p:sp>
      <p:sp>
        <p:nvSpPr>
          <p:cNvPr id="14339" name="Rectangle 3"/>
          <p:cNvSpPr>
            <a:spLocks noGrp="1"/>
          </p:cNvSpPr>
          <p:nvPr>
            <p:ph idx="1"/>
          </p:nvPr>
        </p:nvSpPr>
        <p:spPr>
          <a:xfrm>
            <a:off x="1187450" y="1268413"/>
            <a:ext cx="6913563" cy="5026025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adjournment: suspension of a meeting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announcement of quorum: announcement of the number of people who attend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call to order: open the meeting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coffee or tea break with refreshments: </a:t>
            </a:r>
            <a:r>
              <a:rPr lang="zh-CN" altLang="en-US" sz="2400" dirty="0">
                <a:ea typeface="宋体" panose="02010600030101010101" pitchFamily="2" charset="-122"/>
              </a:rPr>
              <a:t>茶歇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courtesy call: </a:t>
            </a:r>
            <a:r>
              <a:rPr lang="zh-CN" altLang="en-US" sz="2400" dirty="0">
                <a:ea typeface="宋体" panose="02010600030101010101" pitchFamily="2" charset="-122"/>
              </a:rPr>
              <a:t>礼节性拜访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debriefing: a meeting where a report is given on a task or operation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executive secretary: </a:t>
            </a:r>
            <a:r>
              <a:rPr lang="zh-CN" altLang="en-US" sz="2400" dirty="0">
                <a:ea typeface="宋体" panose="02010600030101010101" pitchFamily="2" charset="-122"/>
              </a:rPr>
              <a:t>执行秘书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meeting minutes: the records of the meeting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reception: </a:t>
            </a:r>
            <a:r>
              <a:rPr lang="en-US" altLang="en-US" sz="2400" dirty="0"/>
              <a:t> the desk or office that books rooms for people and answers their questions. </a:t>
            </a:r>
            <a:endParaRPr lang="en-US" altLang="zh-CN" sz="2400" dirty="0">
              <a:ea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CN" sz="2400" dirty="0">
                <a:ea typeface="宋体" panose="02010600030101010101" pitchFamily="2" charset="-122"/>
              </a:rPr>
              <a:t>roll call: </a:t>
            </a:r>
            <a:r>
              <a:rPr lang="zh-CN" altLang="en-US" sz="2400" dirty="0">
                <a:ea typeface="宋体" panose="02010600030101010101" pitchFamily="2" charset="-122"/>
              </a:rPr>
              <a:t>点名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Sample Demonstration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Conference Programs</a:t>
            </a: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A conference program contains the following</a:t>
            </a: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information: </a:t>
            </a:r>
          </a:p>
          <a:p>
            <a:pPr algn="ctr" eaLnBrk="1" hangingPunct="1">
              <a:buNone/>
            </a:pPr>
            <a:r>
              <a:rPr lang="en-US" altLang="zh-CN" sz="2800" b="1" dirty="0">
                <a:ea typeface="宋体" panose="02010600030101010101" pitchFamily="2" charset="-122"/>
              </a:rPr>
              <a:t>Date, Time, Activities, Venues, and People  involved.</a:t>
            </a:r>
            <a:r>
              <a:rPr lang="en-US" altLang="zh-CN" dirty="0"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lstStyle/>
          <a:p>
            <a:pPr eaLnBrk="1" hangingPunct="1"/>
            <a:r>
              <a:rPr lang="en-US" altLang="zh-CN" sz="3200" dirty="0">
                <a:ea typeface="宋体" panose="02010600030101010101" pitchFamily="2" charset="-122"/>
              </a:rPr>
              <a:t>Sample Demonstration</a:t>
            </a:r>
            <a:endParaRPr lang="zh-CN" altLang="en-US" sz="3200" dirty="0">
              <a:ea typeface="宋体" panose="02010600030101010101" pitchFamily="2" charset="-122"/>
            </a:endParaRP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lstStyle/>
          <a:p>
            <a:pPr algn="ctr" eaLnBrk="1" hangingPunct="1">
              <a:buNone/>
            </a:pPr>
            <a:r>
              <a:rPr lang="en-US" altLang="zh-CN" b="1" dirty="0">
                <a:ea typeface="宋体" panose="02010600030101010101" pitchFamily="2" charset="-122"/>
              </a:rPr>
              <a:t>Sample 1</a:t>
            </a: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1.When is the conference going to open? </a:t>
            </a: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2.How many plenary sessions are there in the conference? </a:t>
            </a:r>
          </a:p>
          <a:p>
            <a:pPr eaLnBrk="1" hangingPunct="1">
              <a:buNone/>
            </a:pPr>
            <a:r>
              <a:rPr lang="en-US" altLang="zh-CN" dirty="0">
                <a:ea typeface="宋体" panose="02010600030101010101" pitchFamily="2" charset="-122"/>
              </a:rPr>
              <a:t>3.Which workshop offers presentation and discussion on  where and how to educate about human rights? 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Learning Aids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sz="2000"/>
              <a:t>meeting: </a:t>
            </a:r>
            <a:r>
              <a:rPr lang="zh-CN" altLang="en-US" sz="2000">
                <a:ea typeface="宋体" panose="02010600030101010101" pitchFamily="2" charset="-122"/>
              </a:rPr>
              <a:t>会议的统称</a:t>
            </a:r>
            <a:r>
              <a:rPr lang="en-US" altLang="zh-CN" sz="2000"/>
              <a:t> </a:t>
            </a:r>
          </a:p>
          <a:p>
            <a:pPr marL="0" indent="0">
              <a:buNone/>
            </a:pPr>
            <a:r>
              <a:rPr lang="en-US" altLang="zh-CN" sz="2000"/>
              <a:t>conference </a:t>
            </a:r>
            <a:r>
              <a:rPr lang="zh-CN" altLang="en-US" sz="2000">
                <a:ea typeface="宋体" panose="02010600030101010101" pitchFamily="2" charset="-122"/>
              </a:rPr>
              <a:t>研讨会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symposium</a:t>
            </a:r>
            <a:r>
              <a:rPr lang="zh-CN" altLang="en-US" sz="2000">
                <a:ea typeface="宋体" panose="02010600030101010101" pitchFamily="2" charset="-122"/>
              </a:rPr>
              <a:t>座谈会</a:t>
            </a:r>
            <a:r>
              <a:rPr lang="en-US" altLang="zh-CN" sz="2000">
                <a:ea typeface="宋体" panose="02010600030101010101" pitchFamily="2" charset="-122"/>
              </a:rPr>
              <a:t>/</a:t>
            </a:r>
            <a:r>
              <a:rPr lang="zh-CN" altLang="en-US" sz="2000">
                <a:ea typeface="宋体" panose="02010600030101010101" pitchFamily="2" charset="-122"/>
              </a:rPr>
              <a:t>专题报告</a:t>
            </a:r>
            <a:endParaRPr lang="en-US" altLang="zh-CN" sz="200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/>
              <a:t>congress </a:t>
            </a:r>
            <a:r>
              <a:rPr lang="zh-CN" altLang="en-US" sz="2000">
                <a:ea typeface="宋体" panose="02010600030101010101" pitchFamily="2" charset="-122"/>
              </a:rPr>
              <a:t>代表大会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convention</a:t>
            </a:r>
            <a:r>
              <a:rPr lang="zh-CN" altLang="en-US" sz="2000">
                <a:ea typeface="宋体" panose="02010600030101010101" pitchFamily="2" charset="-122"/>
              </a:rPr>
              <a:t>（行业或政治团体等）大规模的例会，如政党年度大会等</a:t>
            </a:r>
          </a:p>
          <a:p>
            <a:pPr marL="0" indent="0">
              <a:buNone/>
            </a:pPr>
            <a:r>
              <a:rPr lang="zh-CN" altLang="en-US" sz="2000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   eg. the Democratic/Republican Convention</a:t>
            </a:r>
            <a:endParaRPr lang="zh-CN" altLang="en-US" sz="2000"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forum </a:t>
            </a:r>
            <a:r>
              <a:rPr lang="zh-CN" altLang="en-US" sz="2000">
                <a:ea typeface="宋体" panose="02010600030101010101" pitchFamily="2" charset="-122"/>
              </a:rPr>
              <a:t>论坛</a:t>
            </a:r>
          </a:p>
          <a:p>
            <a:pPr marL="0" indent="0">
              <a:buNone/>
            </a:pPr>
            <a:r>
              <a:rPr lang="en-US" altLang="zh-CN" sz="2000"/>
              <a:t>seminar </a:t>
            </a:r>
            <a:r>
              <a:rPr lang="zh-CN" altLang="en-US" sz="2000">
                <a:ea typeface="宋体" panose="02010600030101010101" pitchFamily="2" charset="-122"/>
              </a:rPr>
              <a:t>研讨班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workshop</a:t>
            </a:r>
            <a:r>
              <a:rPr lang="zh-CN" altLang="en-US" sz="2000">
                <a:ea typeface="宋体" panose="02010600030101010101" pitchFamily="2" charset="-122"/>
              </a:rPr>
              <a:t>专题讨论会</a:t>
            </a:r>
            <a:r>
              <a:rPr lang="en-US" altLang="zh-CN" sz="2000">
                <a:ea typeface="宋体" panose="02010600030101010101" pitchFamily="2" charset="-122"/>
              </a:rPr>
              <a:t>/</a:t>
            </a:r>
            <a:r>
              <a:rPr lang="zh-CN" altLang="en-US" sz="2000">
                <a:ea typeface="宋体" panose="02010600030101010101" pitchFamily="2" charset="-122"/>
              </a:rPr>
              <a:t>讲习班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session</a:t>
            </a:r>
            <a:r>
              <a:rPr lang="zh-CN" altLang="en-US" sz="2000">
                <a:ea typeface="宋体" panose="02010600030101010101" pitchFamily="2" charset="-122"/>
              </a:rPr>
              <a:t>（尤指一批人参加某项活动的）一段时间</a:t>
            </a:r>
          </a:p>
          <a:p>
            <a:pPr marL="0" indent="0">
              <a:buNone/>
            </a:pPr>
            <a:r>
              <a:rPr lang="zh-CN" altLang="en-US" sz="2000">
                <a:ea typeface="宋体" panose="02010600030101010101" pitchFamily="2" charset="-122"/>
              </a:rPr>
              <a:t> </a:t>
            </a:r>
            <a:r>
              <a:rPr lang="en-US" altLang="zh-CN" sz="2000">
                <a:ea typeface="宋体" panose="02010600030101010101" pitchFamily="2" charset="-122"/>
              </a:rPr>
              <a:t>   eg. a tennis session/ question and answer sessions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preparatory meeting </a:t>
            </a:r>
            <a:r>
              <a:rPr lang="zh-CN" altLang="en-US" sz="2000">
                <a:ea typeface="宋体" panose="02010600030101010101" pitchFamily="2" charset="-122"/>
              </a:rPr>
              <a:t>预备会议</a:t>
            </a:r>
            <a:r>
              <a:rPr lang="zh-CN" altLang="en-US" sz="2000"/>
              <a:t>；筹备会议；会前筹备会</a:t>
            </a:r>
          </a:p>
          <a:p>
            <a:pPr marL="0" indent="0">
              <a:buNone/>
            </a:pPr>
            <a:r>
              <a:rPr lang="en-US" altLang="zh-CN" sz="2000"/>
              <a:t>plenary session </a:t>
            </a:r>
            <a:r>
              <a:rPr lang="zh-CN" altLang="en-US" sz="2000">
                <a:ea typeface="宋体" panose="02010600030101010101" pitchFamily="2" charset="-122"/>
              </a:rPr>
              <a:t>全体大会</a:t>
            </a:r>
          </a:p>
          <a:p>
            <a:pPr marL="0" indent="0">
              <a:buNone/>
            </a:pPr>
            <a:r>
              <a:rPr lang="en-US" altLang="zh-CN" sz="2000">
                <a:ea typeface="宋体" panose="02010600030101010101" pitchFamily="2" charset="-122"/>
              </a:rPr>
              <a:t>panel discussion </a:t>
            </a:r>
            <a:r>
              <a:rPr lang="zh-CN" altLang="en-US" sz="2000">
                <a:ea typeface="宋体" panose="02010600030101010101" pitchFamily="2" charset="-122"/>
              </a:rPr>
              <a:t>小组讨论会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 presentation slides with animation">
  <a:themeElements>
    <a:clrScheme name="Sample presentation slides with animation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Sample presentation slides with anim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presentation slides with animation 1">
        <a:dk1>
          <a:srgbClr val="1A1A70"/>
        </a:dk1>
        <a:lt1>
          <a:srgbClr val="FFFFFF"/>
        </a:lt1>
        <a:dk2>
          <a:srgbClr val="12449E"/>
        </a:dk2>
        <a:lt2>
          <a:srgbClr val="C0C0C0"/>
        </a:lt2>
        <a:accent1>
          <a:srgbClr val="3167D3"/>
        </a:accent1>
        <a:accent2>
          <a:srgbClr val="87A3E9"/>
        </a:accent2>
        <a:accent3>
          <a:srgbClr val="FFFFFF"/>
        </a:accent3>
        <a:accent4>
          <a:srgbClr val="14145F"/>
        </a:accent4>
        <a:accent5>
          <a:srgbClr val="ADB8E6"/>
        </a:accent5>
        <a:accent6>
          <a:srgbClr val="7A93D3"/>
        </a:accent6>
        <a:hlink>
          <a:srgbClr val="90B54D"/>
        </a:hlink>
        <a:folHlink>
          <a:srgbClr val="F6A2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presentation slides with animation 2">
        <a:dk1>
          <a:srgbClr val="0E5D92"/>
        </a:dk1>
        <a:lt1>
          <a:srgbClr val="FFFFFF"/>
        </a:lt1>
        <a:dk2>
          <a:srgbClr val="137C9D"/>
        </a:dk2>
        <a:lt2>
          <a:srgbClr val="C0C0C0"/>
        </a:lt2>
        <a:accent1>
          <a:srgbClr val="35AACF"/>
        </a:accent1>
        <a:accent2>
          <a:srgbClr val="75CDB2"/>
        </a:accent2>
        <a:accent3>
          <a:srgbClr val="FFFFFF"/>
        </a:accent3>
        <a:accent4>
          <a:srgbClr val="0A4E7C"/>
        </a:accent4>
        <a:accent5>
          <a:srgbClr val="AED2E4"/>
        </a:accent5>
        <a:accent6>
          <a:srgbClr val="69BAA1"/>
        </a:accent6>
        <a:hlink>
          <a:srgbClr val="E8C86E"/>
        </a:hlink>
        <a:folHlink>
          <a:srgbClr val="1E68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presentation slides with animation 3">
        <a:dk1>
          <a:srgbClr val="164D60"/>
        </a:dk1>
        <a:lt1>
          <a:srgbClr val="FFFFFF"/>
        </a:lt1>
        <a:dk2>
          <a:srgbClr val="2A8486"/>
        </a:dk2>
        <a:lt2>
          <a:srgbClr val="C0C0C0"/>
        </a:lt2>
        <a:accent1>
          <a:srgbClr val="48BC77"/>
        </a:accent1>
        <a:accent2>
          <a:srgbClr val="ECCA4C"/>
        </a:accent2>
        <a:accent3>
          <a:srgbClr val="FFFFFF"/>
        </a:accent3>
        <a:accent4>
          <a:srgbClr val="114051"/>
        </a:accent4>
        <a:accent5>
          <a:srgbClr val="B1DABD"/>
        </a:accent5>
        <a:accent6>
          <a:srgbClr val="D6B744"/>
        </a:accent6>
        <a:hlink>
          <a:srgbClr val="3191E9"/>
        </a:hlink>
        <a:folHlink>
          <a:srgbClr val="E3694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Sample presentation slides with animation">
  <a:themeElements>
    <a:clrScheme name="Sample presentation slides with animation 1">
      <a:dk1>
        <a:srgbClr val="1A1A70"/>
      </a:dk1>
      <a:lt1>
        <a:srgbClr val="FFFFFF"/>
      </a:lt1>
      <a:dk2>
        <a:srgbClr val="12449E"/>
      </a:dk2>
      <a:lt2>
        <a:srgbClr val="C0C0C0"/>
      </a:lt2>
      <a:accent1>
        <a:srgbClr val="3167D3"/>
      </a:accent1>
      <a:accent2>
        <a:srgbClr val="87A3E9"/>
      </a:accent2>
      <a:accent3>
        <a:srgbClr val="FFFFFF"/>
      </a:accent3>
      <a:accent4>
        <a:srgbClr val="14145F"/>
      </a:accent4>
      <a:accent5>
        <a:srgbClr val="ADB8E6"/>
      </a:accent5>
      <a:accent6>
        <a:srgbClr val="7A93D3"/>
      </a:accent6>
      <a:hlink>
        <a:srgbClr val="90B54D"/>
      </a:hlink>
      <a:folHlink>
        <a:srgbClr val="F6A23C"/>
      </a:folHlink>
    </a:clrScheme>
    <a:fontScheme name="Sample presentation slides with anim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presentation slides with animation 1">
        <a:dk1>
          <a:srgbClr val="1A1A70"/>
        </a:dk1>
        <a:lt1>
          <a:srgbClr val="FFFFFF"/>
        </a:lt1>
        <a:dk2>
          <a:srgbClr val="12449E"/>
        </a:dk2>
        <a:lt2>
          <a:srgbClr val="C0C0C0"/>
        </a:lt2>
        <a:accent1>
          <a:srgbClr val="3167D3"/>
        </a:accent1>
        <a:accent2>
          <a:srgbClr val="87A3E9"/>
        </a:accent2>
        <a:accent3>
          <a:srgbClr val="FFFFFF"/>
        </a:accent3>
        <a:accent4>
          <a:srgbClr val="14145F"/>
        </a:accent4>
        <a:accent5>
          <a:srgbClr val="ADB8E6"/>
        </a:accent5>
        <a:accent6>
          <a:srgbClr val="7A93D3"/>
        </a:accent6>
        <a:hlink>
          <a:srgbClr val="90B54D"/>
        </a:hlink>
        <a:folHlink>
          <a:srgbClr val="F6A23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presentation slides with animation 2">
        <a:dk1>
          <a:srgbClr val="0E5D92"/>
        </a:dk1>
        <a:lt1>
          <a:srgbClr val="FFFFFF"/>
        </a:lt1>
        <a:dk2>
          <a:srgbClr val="137C9D"/>
        </a:dk2>
        <a:lt2>
          <a:srgbClr val="C0C0C0"/>
        </a:lt2>
        <a:accent1>
          <a:srgbClr val="35AACF"/>
        </a:accent1>
        <a:accent2>
          <a:srgbClr val="75CDB2"/>
        </a:accent2>
        <a:accent3>
          <a:srgbClr val="FFFFFF"/>
        </a:accent3>
        <a:accent4>
          <a:srgbClr val="0A4E7C"/>
        </a:accent4>
        <a:accent5>
          <a:srgbClr val="AED2E4"/>
        </a:accent5>
        <a:accent6>
          <a:srgbClr val="69BAA1"/>
        </a:accent6>
        <a:hlink>
          <a:srgbClr val="E8C86E"/>
        </a:hlink>
        <a:folHlink>
          <a:srgbClr val="1E68D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presentation slides with animation 3">
        <a:dk1>
          <a:srgbClr val="164D60"/>
        </a:dk1>
        <a:lt1>
          <a:srgbClr val="FFFFFF"/>
        </a:lt1>
        <a:dk2>
          <a:srgbClr val="2A8486"/>
        </a:dk2>
        <a:lt2>
          <a:srgbClr val="C0C0C0"/>
        </a:lt2>
        <a:accent1>
          <a:srgbClr val="48BC77"/>
        </a:accent1>
        <a:accent2>
          <a:srgbClr val="ECCA4C"/>
        </a:accent2>
        <a:accent3>
          <a:srgbClr val="FFFFFF"/>
        </a:accent3>
        <a:accent4>
          <a:srgbClr val="114051"/>
        </a:accent4>
        <a:accent5>
          <a:srgbClr val="B1DABD"/>
        </a:accent5>
        <a:accent6>
          <a:srgbClr val="D6B744"/>
        </a:accent6>
        <a:hlink>
          <a:srgbClr val="3191E9"/>
        </a:hlink>
        <a:folHlink>
          <a:srgbClr val="E3694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Sample presentation slides with animation</Template>
  <TotalTime>35</TotalTime>
  <Words>961</Words>
  <Application>Microsoft Office PowerPoint</Application>
  <PresentationFormat>全屏显示(4:3)</PresentationFormat>
  <Paragraphs>151</Paragraphs>
  <Slides>20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Wingdings</vt:lpstr>
      <vt:lpstr>Wingdings 2</vt:lpstr>
      <vt:lpstr>Sample presentation slides with animation</vt:lpstr>
      <vt:lpstr>1_Sample presentation slides with animation</vt:lpstr>
      <vt:lpstr>PowerPoint 演示文稿</vt:lpstr>
      <vt:lpstr>Unit 1  Preparations for International Conference </vt:lpstr>
      <vt:lpstr>Unit 1 Int’l Conference Prep</vt:lpstr>
      <vt:lpstr>PowerPoint 演示文稿</vt:lpstr>
      <vt:lpstr>Vocabulary </vt:lpstr>
      <vt:lpstr>Sample 1（p2-4）</vt:lpstr>
      <vt:lpstr>Sample Demonstration </vt:lpstr>
      <vt:lpstr>Learning Aids</vt:lpstr>
      <vt:lpstr>Learning Aids</vt:lpstr>
      <vt:lpstr>PowerPoint 演示文稿</vt:lpstr>
      <vt:lpstr>Vocabulary </vt:lpstr>
      <vt:lpstr>Sample Demonstration</vt:lpstr>
      <vt:lpstr>Sample Demonstration </vt:lpstr>
      <vt:lpstr>Learning Aids</vt:lpstr>
      <vt:lpstr>PowerPoint 演示文稿</vt:lpstr>
      <vt:lpstr>PowerPoint 演示文稿</vt:lpstr>
      <vt:lpstr>Vocabulary </vt:lpstr>
      <vt:lpstr>Sample Demonstration</vt:lpstr>
      <vt:lpstr>Sample Demonstration</vt:lpstr>
      <vt:lpstr>Learning Aids</vt:lpstr>
    </vt:vector>
  </TitlesOfParts>
  <Company>MC SYSTEM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add title</dc:title>
  <dc:creator>luobo</dc:creator>
  <cp:lastModifiedBy>aaron aaron</cp:lastModifiedBy>
  <cp:revision>54</cp:revision>
  <dcterms:created xsi:type="dcterms:W3CDTF">2009-04-14T06:04:00Z</dcterms:created>
  <dcterms:modified xsi:type="dcterms:W3CDTF">2026-09-07T00:36:40Z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TC011367991033</vt:lpwstr>
  </property>
  <property fmtid="{D5CDD505-2E9C-101B-9397-08002B2CF9AE}" pid="3" name="ICV">
    <vt:lpwstr>814B44148A59401EA8431A92EC42E9FE_12</vt:lpwstr>
  </property>
  <property fmtid="{D5CDD505-2E9C-101B-9397-08002B2CF9AE}" pid="4" name="KSOProductBuildVer">
    <vt:lpwstr>2052-12.1.0.23122</vt:lpwstr>
  </property>
</Properties>
</file>